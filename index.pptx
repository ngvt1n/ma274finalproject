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747720" y="1593360"/>
            <a:ext cx="852588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480" strike="noStrike" u="non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Embrace the Unknown: Russell's Paradox</a:t>
            </a:r>
            <a:endParaRPr b="0" lang="en-US" sz="34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47720" y="2145600"/>
            <a:ext cx="5211360" cy="5886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3480" strike="noStrike" u="none">
                <a:solidFill>
                  <a:srgbClr val="224466"/>
                </a:solidFill>
                <a:effectLst/>
                <a:uFillTx/>
                <a:latin typeface="SegoeUI"/>
                <a:ea typeface="SegoeUI"/>
              </a:rPr>
              <a:t>and The Halting Problem</a:t>
            </a:r>
            <a:endParaRPr b="0" lang="en-US" sz="34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747720" y="3070800"/>
            <a:ext cx="290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280" strike="noStrike" u="none">
                <a:solidFill>
                  <a:srgbClr val="1f2328"/>
                </a:solidFill>
                <a:effectLst/>
                <a:uFillTx/>
                <a:latin typeface="MicrosoftYaHei"/>
                <a:ea typeface="MicrosoftYaHei"/>
              </a:rPr>
              <a:t>〜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1037880" y="3064680"/>
            <a:ext cx="3511800" cy="3859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en-US" sz="228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MA274 Final Presentation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4417560" y="3070800"/>
            <a:ext cx="290160" cy="3830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1" lang="zh-CN" sz="2280" strike="noStrike" u="none">
                <a:solidFill>
                  <a:srgbClr val="1f2328"/>
                </a:solidFill>
                <a:effectLst/>
                <a:uFillTx/>
                <a:latin typeface="MicrosoftYaHei"/>
                <a:ea typeface="MicrosoftYaHei"/>
              </a:rPr>
              <a:t>〜</a:t>
            </a:r>
            <a:endParaRPr b="0" lang="en-US" sz="228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747720" y="4028400"/>
            <a:ext cx="1311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Rafay Abid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747720" y="4442760"/>
            <a:ext cx="14025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Tin Nguyen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747720" y="4857120"/>
            <a:ext cx="14947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2025/12/DD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015560" y="2278440"/>
            <a:ext cx="23554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Russell's Paradox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015560" y="2761920"/>
            <a:ext cx="27853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2. The Halting Problem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335240" y="3384720"/>
            <a:ext cx="261360" cy="186480"/>
          </a:xfrm>
          <a:custGeom>
            <a:avLst/>
            <a:gdLst/>
            <a:ahLst/>
            <a:rect l="0" t="0" r="r" b="b"/>
            <a:pathLst>
              <a:path w="726" h="518">
                <a:moveTo>
                  <a:pt x="726" y="147"/>
                </a:moveTo>
                <a:cubicBezTo>
                  <a:pt x="726" y="65"/>
                  <a:pt x="660" y="0"/>
                  <a:pt x="579" y="0"/>
                </a:cubicBezTo>
                <a:cubicBezTo>
                  <a:pt x="558" y="0"/>
                  <a:pt x="521" y="12"/>
                  <a:pt x="521" y="12"/>
                </a:cubicBezTo>
                <a:lnTo>
                  <a:pt x="240" y="42"/>
                </a:lnTo>
                <a:cubicBezTo>
                  <a:pt x="240" y="42"/>
                  <a:pt x="182" y="8"/>
                  <a:pt x="147" y="8"/>
                </a:cubicBezTo>
                <a:cubicBezTo>
                  <a:pt x="66" y="8"/>
                  <a:pt x="0" y="74"/>
                  <a:pt x="0" y="155"/>
                </a:cubicBezTo>
                <a:cubicBezTo>
                  <a:pt x="0" y="160"/>
                  <a:pt x="0" y="165"/>
                  <a:pt x="1" y="170"/>
                </a:cubicBezTo>
                <a:cubicBezTo>
                  <a:pt x="9" y="363"/>
                  <a:pt x="167" y="518"/>
                  <a:pt x="363" y="518"/>
                </a:cubicBezTo>
                <a:cubicBezTo>
                  <a:pt x="564" y="518"/>
                  <a:pt x="726" y="356"/>
                  <a:pt x="726" y="155"/>
                </a:cubicBezTo>
                <a:cubicBezTo>
                  <a:pt x="726" y="154"/>
                  <a:pt x="726" y="153"/>
                  <a:pt x="725" y="152"/>
                </a:cubicBezTo>
                <a:cubicBezTo>
                  <a:pt x="726" y="151"/>
                  <a:pt x="726" y="149"/>
                  <a:pt x="726" y="147"/>
                </a:cubicBezTo>
                <a:close/>
              </a:path>
            </a:pathLst>
          </a:custGeom>
          <a:solidFill>
            <a:srgbClr val="ffcb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373760" y="3392640"/>
            <a:ext cx="189360" cy="26280"/>
          </a:xfrm>
          <a:custGeom>
            <a:avLst/>
            <a:gdLst/>
            <a:ahLst/>
            <a:rect l="0" t="0" r="r" b="b"/>
            <a:pathLst>
              <a:path w="526" h="73">
                <a:moveTo>
                  <a:pt x="515" y="21"/>
                </a:moveTo>
                <a:cubicBezTo>
                  <a:pt x="495" y="15"/>
                  <a:pt x="493" y="29"/>
                  <a:pt x="468" y="26"/>
                </a:cubicBezTo>
                <a:cubicBezTo>
                  <a:pt x="443" y="23"/>
                  <a:pt x="477" y="10"/>
                  <a:pt x="464" y="3"/>
                </a:cubicBezTo>
                <a:cubicBezTo>
                  <a:pt x="459" y="0"/>
                  <a:pt x="453" y="-1"/>
                  <a:pt x="445" y="0"/>
                </a:cubicBezTo>
                <a:cubicBezTo>
                  <a:pt x="423" y="3"/>
                  <a:pt x="83" y="12"/>
                  <a:pt x="70" y="18"/>
                </a:cubicBezTo>
                <a:cubicBezTo>
                  <a:pt x="59" y="23"/>
                  <a:pt x="52" y="30"/>
                  <a:pt x="42" y="20"/>
                </a:cubicBezTo>
                <a:cubicBezTo>
                  <a:pt x="29" y="8"/>
                  <a:pt x="11" y="15"/>
                  <a:pt x="5" y="19"/>
                </a:cubicBezTo>
                <a:cubicBezTo>
                  <a:pt x="-2" y="24"/>
                  <a:pt x="-3" y="34"/>
                  <a:pt x="10" y="47"/>
                </a:cubicBezTo>
                <a:cubicBezTo>
                  <a:pt x="24" y="56"/>
                  <a:pt x="46" y="66"/>
                  <a:pt x="84" y="72"/>
                </a:cubicBezTo>
                <a:cubicBezTo>
                  <a:pt x="88" y="73"/>
                  <a:pt x="92" y="73"/>
                  <a:pt x="95" y="73"/>
                </a:cubicBezTo>
                <a:cubicBezTo>
                  <a:pt x="123" y="74"/>
                  <a:pt x="126" y="37"/>
                  <a:pt x="163" y="36"/>
                </a:cubicBezTo>
                <a:cubicBezTo>
                  <a:pt x="187" y="35"/>
                  <a:pt x="401" y="59"/>
                  <a:pt x="418" y="57"/>
                </a:cubicBezTo>
                <a:cubicBezTo>
                  <a:pt x="420" y="57"/>
                  <a:pt x="423" y="57"/>
                  <a:pt x="425" y="57"/>
                </a:cubicBezTo>
                <a:cubicBezTo>
                  <a:pt x="459" y="57"/>
                  <a:pt x="466" y="87"/>
                  <a:pt x="502" y="63"/>
                </a:cubicBezTo>
                <a:cubicBezTo>
                  <a:pt x="517" y="51"/>
                  <a:pt x="540" y="27"/>
                  <a:pt x="515" y="21"/>
                </a:cubicBezTo>
                <a:close/>
              </a:path>
            </a:pathLst>
          </a:custGeom>
          <a:solidFill>
            <a:srgbClr val="f19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373040" y="3364560"/>
            <a:ext cx="182880" cy="60120"/>
          </a:xfrm>
          <a:custGeom>
            <a:avLst/>
            <a:gdLst/>
            <a:ahLst/>
            <a:rect l="0" t="0" r="r" b="b"/>
            <a:pathLst>
              <a:path w="508" h="167">
                <a:moveTo>
                  <a:pt x="0" y="0"/>
                </a:moveTo>
                <a:cubicBezTo>
                  <a:pt x="33" y="32"/>
                  <a:pt x="56" y="68"/>
                  <a:pt x="72" y="97"/>
                </a:cubicBezTo>
                <a:cubicBezTo>
                  <a:pt x="84" y="119"/>
                  <a:pt x="92" y="138"/>
                  <a:pt x="97" y="151"/>
                </a:cubicBezTo>
                <a:cubicBezTo>
                  <a:pt x="124" y="152"/>
                  <a:pt x="127" y="137"/>
                  <a:pt x="164" y="136"/>
                </a:cubicBezTo>
                <a:cubicBezTo>
                  <a:pt x="188" y="135"/>
                  <a:pt x="202" y="152"/>
                  <a:pt x="220" y="162"/>
                </a:cubicBezTo>
                <a:cubicBezTo>
                  <a:pt x="252" y="180"/>
                  <a:pt x="275" y="147"/>
                  <a:pt x="299" y="147"/>
                </a:cubicBezTo>
                <a:cubicBezTo>
                  <a:pt x="317" y="147"/>
                  <a:pt x="346" y="172"/>
                  <a:pt x="367" y="163"/>
                </a:cubicBezTo>
                <a:cubicBezTo>
                  <a:pt x="397" y="149"/>
                  <a:pt x="402" y="137"/>
                  <a:pt x="419" y="135"/>
                </a:cubicBezTo>
                <a:cubicBezTo>
                  <a:pt x="426" y="118"/>
                  <a:pt x="435" y="99"/>
                  <a:pt x="446" y="79"/>
                </a:cubicBezTo>
                <a:cubicBezTo>
                  <a:pt x="462" y="51"/>
                  <a:pt x="482" y="22"/>
                  <a:pt x="50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36c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380960" y="3363120"/>
            <a:ext cx="172080" cy="41760"/>
          </a:xfrm>
          <a:custGeom>
            <a:avLst/>
            <a:gdLst/>
            <a:ahLst/>
            <a:rect l="0" t="0" r="r" b="b"/>
            <a:pathLst>
              <a:path w="478" h="116">
                <a:moveTo>
                  <a:pt x="477" y="11"/>
                </a:moveTo>
                <a:cubicBezTo>
                  <a:pt x="505" y="-16"/>
                  <a:pt x="-15" y="11"/>
                  <a:pt x="0" y="27"/>
                </a:cubicBezTo>
                <a:cubicBezTo>
                  <a:pt x="21" y="51"/>
                  <a:pt x="47" y="96"/>
                  <a:pt x="47" y="96"/>
                </a:cubicBezTo>
                <a:cubicBezTo>
                  <a:pt x="47" y="96"/>
                  <a:pt x="149" y="147"/>
                  <a:pt x="226" y="82"/>
                </a:cubicBezTo>
                <a:cubicBezTo>
                  <a:pt x="279" y="114"/>
                  <a:pt x="354" y="103"/>
                  <a:pt x="387" y="47"/>
                </a:cubicBezTo>
                <a:cubicBezTo>
                  <a:pt x="387" y="47"/>
                  <a:pt x="413" y="57"/>
                  <a:pt x="440" y="58"/>
                </a:cubicBezTo>
                <a:cubicBezTo>
                  <a:pt x="440" y="58"/>
                  <a:pt x="460" y="28"/>
                  <a:pt x="477" y="11"/>
                </a:cubicBezTo>
                <a:close/>
              </a:path>
            </a:pathLst>
          </a:custGeom>
          <a:solidFill>
            <a:srgbClr val="ce5c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1432440" y="3476160"/>
            <a:ext cx="66960" cy="76320"/>
          </a:xfrm>
          <a:custGeom>
            <a:avLst/>
            <a:gdLst/>
            <a:ahLst/>
            <a:rect l="0" t="0" r="r" b="b"/>
            <a:pathLst>
              <a:path w="186" h="212">
                <a:moveTo>
                  <a:pt x="92" y="212"/>
                </a:moveTo>
                <a:cubicBezTo>
                  <a:pt x="41" y="212"/>
                  <a:pt x="0" y="165"/>
                  <a:pt x="0" y="106"/>
                </a:cubicBezTo>
                <a:cubicBezTo>
                  <a:pt x="0" y="48"/>
                  <a:pt x="41" y="0"/>
                  <a:pt x="92" y="0"/>
                </a:cubicBezTo>
                <a:cubicBezTo>
                  <a:pt x="143" y="0"/>
                  <a:pt x="186" y="48"/>
                  <a:pt x="186" y="106"/>
                </a:cubicBezTo>
                <a:cubicBezTo>
                  <a:pt x="186" y="165"/>
                  <a:pt x="143" y="212"/>
                  <a:pt x="92" y="212"/>
                </a:cubicBezTo>
                <a:close/>
              </a:path>
            </a:pathLst>
          </a:custGeom>
          <a:solidFill>
            <a:srgbClr val="6547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1404360" y="3432240"/>
            <a:ext cx="123120" cy="41040"/>
          </a:xfrm>
          <a:custGeom>
            <a:avLst/>
            <a:gdLst/>
            <a:ahLst/>
            <a:rect l="0" t="0" r="r" b="b"/>
            <a:pathLst>
              <a:path w="342" h="114">
                <a:moveTo>
                  <a:pt x="86" y="58"/>
                </a:moveTo>
                <a:cubicBezTo>
                  <a:pt x="86" y="89"/>
                  <a:pt x="67" y="114"/>
                  <a:pt x="44" y="114"/>
                </a:cubicBezTo>
                <a:cubicBezTo>
                  <a:pt x="19" y="114"/>
                  <a:pt x="0" y="89"/>
                  <a:pt x="0" y="58"/>
                </a:cubicBezTo>
                <a:cubicBezTo>
                  <a:pt x="0" y="26"/>
                  <a:pt x="19" y="0"/>
                  <a:pt x="44" y="0"/>
                </a:cubicBezTo>
                <a:cubicBezTo>
                  <a:pt x="67" y="0"/>
                  <a:pt x="86" y="26"/>
                  <a:pt x="86" y="58"/>
                </a:cubicBezTo>
                <a:moveTo>
                  <a:pt x="342" y="58"/>
                </a:moveTo>
                <a:cubicBezTo>
                  <a:pt x="342" y="89"/>
                  <a:pt x="323" y="114"/>
                  <a:pt x="299" y="114"/>
                </a:cubicBezTo>
                <a:cubicBezTo>
                  <a:pt x="276" y="114"/>
                  <a:pt x="257" y="89"/>
                  <a:pt x="257" y="58"/>
                </a:cubicBezTo>
                <a:cubicBezTo>
                  <a:pt x="257" y="26"/>
                  <a:pt x="276" y="0"/>
                  <a:pt x="299" y="0"/>
                </a:cubicBezTo>
                <a:cubicBezTo>
                  <a:pt x="323" y="0"/>
                  <a:pt x="342" y="26"/>
                  <a:pt x="342" y="58"/>
                </a:cubicBezTo>
                <a:close/>
              </a:path>
            </a:pathLst>
          </a:custGeom>
          <a:solidFill>
            <a:srgbClr val="6547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346400" y="3295800"/>
            <a:ext cx="239400" cy="97200"/>
          </a:xfrm>
          <a:custGeom>
            <a:avLst/>
            <a:gdLst/>
            <a:ahLst/>
            <a:rect l="0" t="0" r="r" b="b"/>
            <a:pathLst>
              <a:path w="665" h="270">
                <a:moveTo>
                  <a:pt x="612" y="76"/>
                </a:moveTo>
                <a:cubicBezTo>
                  <a:pt x="607" y="76"/>
                  <a:pt x="602" y="77"/>
                  <a:pt x="598" y="78"/>
                </a:cubicBezTo>
                <a:cubicBezTo>
                  <a:pt x="583" y="60"/>
                  <a:pt x="560" y="48"/>
                  <a:pt x="535" y="48"/>
                </a:cubicBezTo>
                <a:cubicBezTo>
                  <a:pt x="533" y="48"/>
                  <a:pt x="531" y="49"/>
                  <a:pt x="529" y="49"/>
                </a:cubicBezTo>
                <a:cubicBezTo>
                  <a:pt x="514" y="31"/>
                  <a:pt x="491" y="20"/>
                  <a:pt x="466" y="20"/>
                </a:cubicBezTo>
                <a:cubicBezTo>
                  <a:pt x="434" y="20"/>
                  <a:pt x="406" y="38"/>
                  <a:pt x="391" y="64"/>
                </a:cubicBezTo>
                <a:cubicBezTo>
                  <a:pt x="384" y="47"/>
                  <a:pt x="367" y="35"/>
                  <a:pt x="347" y="35"/>
                </a:cubicBezTo>
                <a:cubicBezTo>
                  <a:pt x="332" y="35"/>
                  <a:pt x="319" y="42"/>
                  <a:pt x="310" y="54"/>
                </a:cubicBezTo>
                <a:cubicBezTo>
                  <a:pt x="299" y="22"/>
                  <a:pt x="270" y="0"/>
                  <a:pt x="235" y="0"/>
                </a:cubicBezTo>
                <a:cubicBezTo>
                  <a:pt x="206" y="0"/>
                  <a:pt x="182" y="14"/>
                  <a:pt x="167" y="36"/>
                </a:cubicBezTo>
                <a:cubicBezTo>
                  <a:pt x="164" y="36"/>
                  <a:pt x="160" y="35"/>
                  <a:pt x="156" y="35"/>
                </a:cubicBezTo>
                <a:cubicBezTo>
                  <a:pt x="125" y="35"/>
                  <a:pt x="99" y="52"/>
                  <a:pt x="85" y="78"/>
                </a:cubicBezTo>
                <a:cubicBezTo>
                  <a:pt x="81" y="77"/>
                  <a:pt x="77" y="76"/>
                  <a:pt x="72" y="76"/>
                </a:cubicBezTo>
                <a:cubicBezTo>
                  <a:pt x="32" y="76"/>
                  <a:pt x="0" y="108"/>
                  <a:pt x="0" y="149"/>
                </a:cubicBezTo>
                <a:cubicBezTo>
                  <a:pt x="0" y="189"/>
                  <a:pt x="32" y="221"/>
                  <a:pt x="72" y="221"/>
                </a:cubicBezTo>
                <a:cubicBezTo>
                  <a:pt x="85" y="221"/>
                  <a:pt x="96" y="218"/>
                  <a:pt x="107" y="212"/>
                </a:cubicBezTo>
                <a:cubicBezTo>
                  <a:pt x="115" y="218"/>
                  <a:pt x="124" y="222"/>
                  <a:pt x="135" y="222"/>
                </a:cubicBezTo>
                <a:cubicBezTo>
                  <a:pt x="138" y="222"/>
                  <a:pt x="141" y="221"/>
                  <a:pt x="144" y="221"/>
                </a:cubicBezTo>
                <a:cubicBezTo>
                  <a:pt x="162" y="250"/>
                  <a:pt x="195" y="270"/>
                  <a:pt x="232" y="270"/>
                </a:cubicBezTo>
                <a:cubicBezTo>
                  <a:pt x="268" y="270"/>
                  <a:pt x="300" y="251"/>
                  <a:pt x="319" y="223"/>
                </a:cubicBezTo>
                <a:cubicBezTo>
                  <a:pt x="334" y="241"/>
                  <a:pt x="357" y="254"/>
                  <a:pt x="383" y="254"/>
                </a:cubicBezTo>
                <a:cubicBezTo>
                  <a:pt x="422" y="254"/>
                  <a:pt x="454" y="227"/>
                  <a:pt x="464" y="192"/>
                </a:cubicBezTo>
                <a:cubicBezTo>
                  <a:pt x="464" y="192"/>
                  <a:pt x="465" y="192"/>
                  <a:pt x="466" y="192"/>
                </a:cubicBezTo>
                <a:cubicBezTo>
                  <a:pt x="472" y="192"/>
                  <a:pt x="478" y="191"/>
                  <a:pt x="483" y="190"/>
                </a:cubicBezTo>
                <a:cubicBezTo>
                  <a:pt x="497" y="202"/>
                  <a:pt x="515" y="209"/>
                  <a:pt x="535" y="209"/>
                </a:cubicBezTo>
                <a:cubicBezTo>
                  <a:pt x="560" y="209"/>
                  <a:pt x="583" y="198"/>
                  <a:pt x="598" y="180"/>
                </a:cubicBezTo>
                <a:cubicBezTo>
                  <a:pt x="602" y="181"/>
                  <a:pt x="607" y="182"/>
                  <a:pt x="612" y="182"/>
                </a:cubicBezTo>
                <a:cubicBezTo>
                  <a:pt x="641" y="182"/>
                  <a:pt x="665" y="158"/>
                  <a:pt x="665" y="129"/>
                </a:cubicBezTo>
                <a:cubicBezTo>
                  <a:pt x="665" y="99"/>
                  <a:pt x="641" y="76"/>
                  <a:pt x="612" y="76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524600" y="33224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91" y="45"/>
                </a:moveTo>
                <a:cubicBezTo>
                  <a:pt x="91" y="70"/>
                  <a:pt x="71" y="92"/>
                  <a:pt x="46" y="92"/>
                </a:cubicBezTo>
                <a:cubicBezTo>
                  <a:pt x="20" y="92"/>
                  <a:pt x="0" y="70"/>
                  <a:pt x="0" y="45"/>
                </a:cubicBezTo>
                <a:cubicBezTo>
                  <a:pt x="0" y="20"/>
                  <a:pt x="20" y="0"/>
                  <a:pt x="46" y="0"/>
                </a:cubicBezTo>
                <a:cubicBezTo>
                  <a:pt x="71" y="0"/>
                  <a:pt x="91" y="20"/>
                  <a:pt x="91" y="45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359720" y="3315240"/>
            <a:ext cx="120600" cy="65880"/>
          </a:xfrm>
          <a:custGeom>
            <a:avLst/>
            <a:gdLst/>
            <a:ahLst/>
            <a:rect l="0" t="0" r="r" b="b"/>
            <a:pathLst>
              <a:path w="335" h="183">
                <a:moveTo>
                  <a:pt x="335" y="68"/>
                </a:moveTo>
                <a:cubicBezTo>
                  <a:pt x="335" y="43"/>
                  <a:pt x="315" y="22"/>
                  <a:pt x="289" y="22"/>
                </a:cubicBezTo>
                <a:cubicBezTo>
                  <a:pt x="282" y="22"/>
                  <a:pt x="274" y="24"/>
                  <a:pt x="268" y="28"/>
                </a:cubicBezTo>
                <a:cubicBezTo>
                  <a:pt x="262" y="15"/>
                  <a:pt x="250" y="6"/>
                  <a:pt x="235" y="6"/>
                </a:cubicBezTo>
                <a:cubicBezTo>
                  <a:pt x="223" y="6"/>
                  <a:pt x="212" y="12"/>
                  <a:pt x="206" y="21"/>
                </a:cubicBezTo>
                <a:cubicBezTo>
                  <a:pt x="192" y="8"/>
                  <a:pt x="173" y="0"/>
                  <a:pt x="152" y="0"/>
                </a:cubicBezTo>
                <a:cubicBezTo>
                  <a:pt x="114" y="0"/>
                  <a:pt x="83" y="25"/>
                  <a:pt x="74" y="60"/>
                </a:cubicBezTo>
                <a:cubicBezTo>
                  <a:pt x="67" y="52"/>
                  <a:pt x="55" y="47"/>
                  <a:pt x="43" y="47"/>
                </a:cubicBezTo>
                <a:cubicBezTo>
                  <a:pt x="19" y="47"/>
                  <a:pt x="0" y="67"/>
                  <a:pt x="0" y="90"/>
                </a:cubicBezTo>
                <a:cubicBezTo>
                  <a:pt x="0" y="114"/>
                  <a:pt x="19" y="133"/>
                  <a:pt x="43" y="133"/>
                </a:cubicBezTo>
                <a:cubicBezTo>
                  <a:pt x="58" y="133"/>
                  <a:pt x="72" y="126"/>
                  <a:pt x="80" y="114"/>
                </a:cubicBezTo>
                <a:cubicBezTo>
                  <a:pt x="91" y="137"/>
                  <a:pt x="112" y="154"/>
                  <a:pt x="138" y="158"/>
                </a:cubicBezTo>
                <a:cubicBezTo>
                  <a:pt x="146" y="173"/>
                  <a:pt x="162" y="183"/>
                  <a:pt x="180" y="183"/>
                </a:cubicBezTo>
                <a:cubicBezTo>
                  <a:pt x="202" y="183"/>
                  <a:pt x="221" y="167"/>
                  <a:pt x="226" y="145"/>
                </a:cubicBezTo>
                <a:cubicBezTo>
                  <a:pt x="233" y="148"/>
                  <a:pt x="241" y="151"/>
                  <a:pt x="249" y="151"/>
                </a:cubicBezTo>
                <a:cubicBezTo>
                  <a:pt x="272" y="151"/>
                  <a:pt x="291" y="135"/>
                  <a:pt x="296" y="114"/>
                </a:cubicBezTo>
                <a:cubicBezTo>
                  <a:pt x="318" y="110"/>
                  <a:pt x="335" y="91"/>
                  <a:pt x="335" y="68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653120" y="3384720"/>
            <a:ext cx="261000" cy="186480"/>
          </a:xfrm>
          <a:custGeom>
            <a:avLst/>
            <a:gdLst/>
            <a:ahLst/>
            <a:rect l="0" t="0" r="r" b="b"/>
            <a:pathLst>
              <a:path w="725" h="518">
                <a:moveTo>
                  <a:pt x="725" y="147"/>
                </a:moveTo>
                <a:cubicBezTo>
                  <a:pt x="725" y="65"/>
                  <a:pt x="660" y="0"/>
                  <a:pt x="579" y="0"/>
                </a:cubicBezTo>
                <a:cubicBezTo>
                  <a:pt x="558" y="0"/>
                  <a:pt x="520" y="12"/>
                  <a:pt x="520" y="12"/>
                </a:cubicBezTo>
                <a:lnTo>
                  <a:pt x="240" y="42"/>
                </a:lnTo>
                <a:cubicBezTo>
                  <a:pt x="240" y="42"/>
                  <a:pt x="182" y="8"/>
                  <a:pt x="147" y="8"/>
                </a:cubicBezTo>
                <a:cubicBezTo>
                  <a:pt x="65" y="8"/>
                  <a:pt x="0" y="74"/>
                  <a:pt x="0" y="155"/>
                </a:cubicBezTo>
                <a:cubicBezTo>
                  <a:pt x="0" y="160"/>
                  <a:pt x="0" y="165"/>
                  <a:pt x="0" y="170"/>
                </a:cubicBezTo>
                <a:cubicBezTo>
                  <a:pt x="8" y="363"/>
                  <a:pt x="168" y="518"/>
                  <a:pt x="363" y="518"/>
                </a:cubicBezTo>
                <a:cubicBezTo>
                  <a:pt x="563" y="518"/>
                  <a:pt x="725" y="356"/>
                  <a:pt x="725" y="155"/>
                </a:cubicBezTo>
                <a:cubicBezTo>
                  <a:pt x="725" y="154"/>
                  <a:pt x="725" y="153"/>
                  <a:pt x="725" y="152"/>
                </a:cubicBezTo>
                <a:cubicBezTo>
                  <a:pt x="725" y="151"/>
                  <a:pt x="725" y="149"/>
                  <a:pt x="725" y="147"/>
                </a:cubicBezTo>
                <a:close/>
              </a:path>
            </a:pathLst>
          </a:custGeom>
          <a:solidFill>
            <a:srgbClr val="ffcb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691640" y="3392640"/>
            <a:ext cx="189360" cy="26280"/>
          </a:xfrm>
          <a:custGeom>
            <a:avLst/>
            <a:gdLst/>
            <a:ahLst/>
            <a:rect l="0" t="0" r="r" b="b"/>
            <a:pathLst>
              <a:path w="526" h="73">
                <a:moveTo>
                  <a:pt x="514" y="21"/>
                </a:moveTo>
                <a:cubicBezTo>
                  <a:pt x="494" y="15"/>
                  <a:pt x="493" y="29"/>
                  <a:pt x="467" y="26"/>
                </a:cubicBezTo>
                <a:cubicBezTo>
                  <a:pt x="442" y="23"/>
                  <a:pt x="476" y="10"/>
                  <a:pt x="463" y="3"/>
                </a:cubicBezTo>
                <a:cubicBezTo>
                  <a:pt x="459" y="0"/>
                  <a:pt x="452" y="-1"/>
                  <a:pt x="444" y="0"/>
                </a:cubicBezTo>
                <a:cubicBezTo>
                  <a:pt x="422" y="3"/>
                  <a:pt x="82" y="12"/>
                  <a:pt x="69" y="18"/>
                </a:cubicBezTo>
                <a:cubicBezTo>
                  <a:pt x="58" y="23"/>
                  <a:pt x="52" y="30"/>
                  <a:pt x="41" y="20"/>
                </a:cubicBezTo>
                <a:cubicBezTo>
                  <a:pt x="28" y="8"/>
                  <a:pt x="10" y="15"/>
                  <a:pt x="5" y="19"/>
                </a:cubicBezTo>
                <a:cubicBezTo>
                  <a:pt x="-2" y="24"/>
                  <a:pt x="-4" y="34"/>
                  <a:pt x="10" y="47"/>
                </a:cubicBezTo>
                <a:cubicBezTo>
                  <a:pt x="23" y="56"/>
                  <a:pt x="45" y="66"/>
                  <a:pt x="84" y="72"/>
                </a:cubicBezTo>
                <a:cubicBezTo>
                  <a:pt x="88" y="73"/>
                  <a:pt x="91" y="73"/>
                  <a:pt x="95" y="73"/>
                </a:cubicBezTo>
                <a:cubicBezTo>
                  <a:pt x="121" y="74"/>
                  <a:pt x="124" y="37"/>
                  <a:pt x="161" y="36"/>
                </a:cubicBezTo>
                <a:cubicBezTo>
                  <a:pt x="186" y="35"/>
                  <a:pt x="400" y="59"/>
                  <a:pt x="418" y="57"/>
                </a:cubicBezTo>
                <a:cubicBezTo>
                  <a:pt x="420" y="57"/>
                  <a:pt x="422" y="57"/>
                  <a:pt x="425" y="57"/>
                </a:cubicBezTo>
                <a:cubicBezTo>
                  <a:pt x="458" y="57"/>
                  <a:pt x="466" y="87"/>
                  <a:pt x="501" y="63"/>
                </a:cubicBezTo>
                <a:cubicBezTo>
                  <a:pt x="516" y="51"/>
                  <a:pt x="540" y="27"/>
                  <a:pt x="514" y="21"/>
                </a:cubicBezTo>
                <a:close/>
              </a:path>
            </a:pathLst>
          </a:custGeom>
          <a:solidFill>
            <a:srgbClr val="f19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690920" y="3364560"/>
            <a:ext cx="182520" cy="60120"/>
          </a:xfrm>
          <a:custGeom>
            <a:avLst/>
            <a:gdLst/>
            <a:ahLst/>
            <a:rect l="0" t="0" r="r" b="b"/>
            <a:pathLst>
              <a:path w="507" h="167">
                <a:moveTo>
                  <a:pt x="0" y="0"/>
                </a:moveTo>
                <a:cubicBezTo>
                  <a:pt x="32" y="32"/>
                  <a:pt x="55" y="68"/>
                  <a:pt x="71" y="97"/>
                </a:cubicBezTo>
                <a:cubicBezTo>
                  <a:pt x="83" y="119"/>
                  <a:pt x="92" y="138"/>
                  <a:pt x="97" y="151"/>
                </a:cubicBezTo>
                <a:cubicBezTo>
                  <a:pt x="124" y="152"/>
                  <a:pt x="127" y="137"/>
                  <a:pt x="164" y="136"/>
                </a:cubicBezTo>
                <a:cubicBezTo>
                  <a:pt x="189" y="135"/>
                  <a:pt x="202" y="152"/>
                  <a:pt x="220" y="162"/>
                </a:cubicBezTo>
                <a:cubicBezTo>
                  <a:pt x="252" y="180"/>
                  <a:pt x="275" y="147"/>
                  <a:pt x="300" y="147"/>
                </a:cubicBezTo>
                <a:cubicBezTo>
                  <a:pt x="318" y="147"/>
                  <a:pt x="347" y="172"/>
                  <a:pt x="367" y="163"/>
                </a:cubicBezTo>
                <a:cubicBezTo>
                  <a:pt x="397" y="149"/>
                  <a:pt x="402" y="137"/>
                  <a:pt x="420" y="135"/>
                </a:cubicBezTo>
                <a:cubicBezTo>
                  <a:pt x="427" y="118"/>
                  <a:pt x="435" y="99"/>
                  <a:pt x="446" y="79"/>
                </a:cubicBezTo>
                <a:cubicBezTo>
                  <a:pt x="462" y="51"/>
                  <a:pt x="482" y="22"/>
                  <a:pt x="507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36c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698480" y="3363120"/>
            <a:ext cx="172080" cy="41760"/>
          </a:xfrm>
          <a:custGeom>
            <a:avLst/>
            <a:gdLst/>
            <a:ahLst/>
            <a:rect l="0" t="0" r="r" b="b"/>
            <a:pathLst>
              <a:path w="478" h="116">
                <a:moveTo>
                  <a:pt x="477" y="11"/>
                </a:moveTo>
                <a:cubicBezTo>
                  <a:pt x="504" y="-16"/>
                  <a:pt x="-15" y="11"/>
                  <a:pt x="0" y="27"/>
                </a:cubicBezTo>
                <a:cubicBezTo>
                  <a:pt x="21" y="51"/>
                  <a:pt x="47" y="96"/>
                  <a:pt x="47" y="96"/>
                </a:cubicBezTo>
                <a:cubicBezTo>
                  <a:pt x="47" y="96"/>
                  <a:pt x="148" y="147"/>
                  <a:pt x="225" y="82"/>
                </a:cubicBezTo>
                <a:cubicBezTo>
                  <a:pt x="278" y="114"/>
                  <a:pt x="353" y="103"/>
                  <a:pt x="387" y="47"/>
                </a:cubicBezTo>
                <a:cubicBezTo>
                  <a:pt x="387" y="47"/>
                  <a:pt x="413" y="57"/>
                  <a:pt x="439" y="58"/>
                </a:cubicBezTo>
                <a:cubicBezTo>
                  <a:pt x="439" y="58"/>
                  <a:pt x="459" y="28"/>
                  <a:pt x="477" y="11"/>
                </a:cubicBezTo>
                <a:close/>
              </a:path>
            </a:pathLst>
          </a:custGeom>
          <a:solidFill>
            <a:srgbClr val="ce5c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749960" y="3476160"/>
            <a:ext cx="66960" cy="76320"/>
          </a:xfrm>
          <a:custGeom>
            <a:avLst/>
            <a:gdLst/>
            <a:ahLst/>
            <a:rect l="0" t="0" r="r" b="b"/>
            <a:pathLst>
              <a:path w="186" h="212">
                <a:moveTo>
                  <a:pt x="94" y="212"/>
                </a:moveTo>
                <a:cubicBezTo>
                  <a:pt x="43" y="212"/>
                  <a:pt x="0" y="165"/>
                  <a:pt x="0" y="106"/>
                </a:cubicBezTo>
                <a:cubicBezTo>
                  <a:pt x="0" y="48"/>
                  <a:pt x="43" y="0"/>
                  <a:pt x="94" y="0"/>
                </a:cubicBezTo>
                <a:cubicBezTo>
                  <a:pt x="145" y="0"/>
                  <a:pt x="186" y="48"/>
                  <a:pt x="186" y="106"/>
                </a:cubicBezTo>
                <a:cubicBezTo>
                  <a:pt x="186" y="165"/>
                  <a:pt x="145" y="212"/>
                  <a:pt x="94" y="212"/>
                </a:cubicBezTo>
                <a:close/>
              </a:path>
            </a:pathLst>
          </a:custGeom>
          <a:solidFill>
            <a:srgbClr val="6547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721880" y="3432240"/>
            <a:ext cx="123120" cy="41040"/>
          </a:xfrm>
          <a:custGeom>
            <a:avLst/>
            <a:gdLst/>
            <a:ahLst/>
            <a:rect l="0" t="0" r="r" b="b"/>
            <a:pathLst>
              <a:path w="342" h="114">
                <a:moveTo>
                  <a:pt x="86" y="58"/>
                </a:moveTo>
                <a:cubicBezTo>
                  <a:pt x="86" y="89"/>
                  <a:pt x="66" y="114"/>
                  <a:pt x="43" y="114"/>
                </a:cubicBezTo>
                <a:cubicBezTo>
                  <a:pt x="19" y="114"/>
                  <a:pt x="0" y="89"/>
                  <a:pt x="0" y="58"/>
                </a:cubicBezTo>
                <a:cubicBezTo>
                  <a:pt x="0" y="26"/>
                  <a:pt x="19" y="0"/>
                  <a:pt x="43" y="0"/>
                </a:cubicBezTo>
                <a:cubicBezTo>
                  <a:pt x="66" y="0"/>
                  <a:pt x="86" y="26"/>
                  <a:pt x="86" y="58"/>
                </a:cubicBezTo>
                <a:moveTo>
                  <a:pt x="342" y="58"/>
                </a:moveTo>
                <a:cubicBezTo>
                  <a:pt x="342" y="89"/>
                  <a:pt x="323" y="114"/>
                  <a:pt x="300" y="114"/>
                </a:cubicBezTo>
                <a:cubicBezTo>
                  <a:pt x="276" y="114"/>
                  <a:pt x="257" y="89"/>
                  <a:pt x="257" y="58"/>
                </a:cubicBezTo>
                <a:cubicBezTo>
                  <a:pt x="257" y="26"/>
                  <a:pt x="276" y="0"/>
                  <a:pt x="300" y="0"/>
                </a:cubicBezTo>
                <a:cubicBezTo>
                  <a:pt x="323" y="0"/>
                  <a:pt x="342" y="26"/>
                  <a:pt x="342" y="58"/>
                </a:cubicBezTo>
                <a:close/>
              </a:path>
            </a:pathLst>
          </a:custGeom>
          <a:solidFill>
            <a:srgbClr val="6547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664280" y="3295800"/>
            <a:ext cx="239040" cy="97200"/>
          </a:xfrm>
          <a:custGeom>
            <a:avLst/>
            <a:gdLst/>
            <a:ahLst/>
            <a:rect l="0" t="0" r="r" b="b"/>
            <a:pathLst>
              <a:path w="664" h="270">
                <a:moveTo>
                  <a:pt x="612" y="76"/>
                </a:moveTo>
                <a:cubicBezTo>
                  <a:pt x="606" y="76"/>
                  <a:pt x="602" y="77"/>
                  <a:pt x="597" y="78"/>
                </a:cubicBezTo>
                <a:cubicBezTo>
                  <a:pt x="582" y="60"/>
                  <a:pt x="560" y="48"/>
                  <a:pt x="535" y="48"/>
                </a:cubicBezTo>
                <a:cubicBezTo>
                  <a:pt x="533" y="48"/>
                  <a:pt x="532" y="49"/>
                  <a:pt x="530" y="49"/>
                </a:cubicBezTo>
                <a:cubicBezTo>
                  <a:pt x="514" y="31"/>
                  <a:pt x="492" y="20"/>
                  <a:pt x="466" y="20"/>
                </a:cubicBezTo>
                <a:cubicBezTo>
                  <a:pt x="434" y="20"/>
                  <a:pt x="406" y="38"/>
                  <a:pt x="392" y="64"/>
                </a:cubicBezTo>
                <a:cubicBezTo>
                  <a:pt x="384" y="47"/>
                  <a:pt x="368" y="35"/>
                  <a:pt x="347" y="35"/>
                </a:cubicBezTo>
                <a:cubicBezTo>
                  <a:pt x="332" y="35"/>
                  <a:pt x="318" y="42"/>
                  <a:pt x="309" y="54"/>
                </a:cubicBezTo>
                <a:cubicBezTo>
                  <a:pt x="298" y="22"/>
                  <a:pt x="269" y="0"/>
                  <a:pt x="234" y="0"/>
                </a:cubicBezTo>
                <a:cubicBezTo>
                  <a:pt x="206" y="0"/>
                  <a:pt x="181" y="14"/>
                  <a:pt x="167" y="36"/>
                </a:cubicBezTo>
                <a:cubicBezTo>
                  <a:pt x="163" y="36"/>
                  <a:pt x="159" y="35"/>
                  <a:pt x="155" y="35"/>
                </a:cubicBezTo>
                <a:cubicBezTo>
                  <a:pt x="125" y="35"/>
                  <a:pt x="98" y="52"/>
                  <a:pt x="85" y="78"/>
                </a:cubicBezTo>
                <a:cubicBezTo>
                  <a:pt x="80" y="77"/>
                  <a:pt x="76" y="76"/>
                  <a:pt x="71" y="76"/>
                </a:cubicBezTo>
                <a:cubicBezTo>
                  <a:pt x="32" y="76"/>
                  <a:pt x="0" y="108"/>
                  <a:pt x="0" y="149"/>
                </a:cubicBezTo>
                <a:cubicBezTo>
                  <a:pt x="0" y="189"/>
                  <a:pt x="32" y="221"/>
                  <a:pt x="71" y="221"/>
                </a:cubicBezTo>
                <a:cubicBezTo>
                  <a:pt x="84" y="221"/>
                  <a:pt x="96" y="218"/>
                  <a:pt x="106" y="212"/>
                </a:cubicBezTo>
                <a:cubicBezTo>
                  <a:pt x="114" y="218"/>
                  <a:pt x="124" y="222"/>
                  <a:pt x="135" y="222"/>
                </a:cubicBezTo>
                <a:cubicBezTo>
                  <a:pt x="138" y="222"/>
                  <a:pt x="141" y="221"/>
                  <a:pt x="144" y="221"/>
                </a:cubicBezTo>
                <a:cubicBezTo>
                  <a:pt x="162" y="250"/>
                  <a:pt x="194" y="270"/>
                  <a:pt x="231" y="270"/>
                </a:cubicBezTo>
                <a:cubicBezTo>
                  <a:pt x="268" y="270"/>
                  <a:pt x="299" y="251"/>
                  <a:pt x="318" y="223"/>
                </a:cubicBezTo>
                <a:cubicBezTo>
                  <a:pt x="333" y="241"/>
                  <a:pt x="357" y="254"/>
                  <a:pt x="383" y="254"/>
                </a:cubicBezTo>
                <a:cubicBezTo>
                  <a:pt x="422" y="254"/>
                  <a:pt x="454" y="227"/>
                  <a:pt x="464" y="192"/>
                </a:cubicBezTo>
                <a:cubicBezTo>
                  <a:pt x="465" y="192"/>
                  <a:pt x="465" y="192"/>
                  <a:pt x="466" y="192"/>
                </a:cubicBezTo>
                <a:cubicBezTo>
                  <a:pt x="472" y="192"/>
                  <a:pt x="478" y="191"/>
                  <a:pt x="484" y="190"/>
                </a:cubicBezTo>
                <a:cubicBezTo>
                  <a:pt x="498" y="202"/>
                  <a:pt x="516" y="209"/>
                  <a:pt x="535" y="209"/>
                </a:cubicBezTo>
                <a:cubicBezTo>
                  <a:pt x="560" y="209"/>
                  <a:pt x="582" y="198"/>
                  <a:pt x="597" y="180"/>
                </a:cubicBezTo>
                <a:cubicBezTo>
                  <a:pt x="602" y="181"/>
                  <a:pt x="606" y="182"/>
                  <a:pt x="612" y="182"/>
                </a:cubicBezTo>
                <a:cubicBezTo>
                  <a:pt x="641" y="182"/>
                  <a:pt x="664" y="158"/>
                  <a:pt x="664" y="129"/>
                </a:cubicBezTo>
                <a:cubicBezTo>
                  <a:pt x="664" y="99"/>
                  <a:pt x="641" y="76"/>
                  <a:pt x="612" y="76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842120" y="3322440"/>
            <a:ext cx="33120" cy="33120"/>
          </a:xfrm>
          <a:custGeom>
            <a:avLst/>
            <a:gdLst/>
            <a:ahLst/>
            <a:rect l="0" t="0" r="r" b="b"/>
            <a:pathLst>
              <a:path w="92" h="92">
                <a:moveTo>
                  <a:pt x="92" y="45"/>
                </a:moveTo>
                <a:cubicBezTo>
                  <a:pt x="92" y="70"/>
                  <a:pt x="72" y="92"/>
                  <a:pt x="46" y="92"/>
                </a:cubicBezTo>
                <a:cubicBezTo>
                  <a:pt x="21" y="92"/>
                  <a:pt x="0" y="70"/>
                  <a:pt x="0" y="45"/>
                </a:cubicBezTo>
                <a:cubicBezTo>
                  <a:pt x="0" y="20"/>
                  <a:pt x="21" y="0"/>
                  <a:pt x="46" y="0"/>
                </a:cubicBezTo>
                <a:cubicBezTo>
                  <a:pt x="72" y="0"/>
                  <a:pt x="92" y="20"/>
                  <a:pt x="92" y="45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677240" y="3315240"/>
            <a:ext cx="120960" cy="65880"/>
          </a:xfrm>
          <a:custGeom>
            <a:avLst/>
            <a:gdLst/>
            <a:ahLst/>
            <a:rect l="0" t="0" r="r" b="b"/>
            <a:pathLst>
              <a:path w="336" h="183">
                <a:moveTo>
                  <a:pt x="336" y="68"/>
                </a:moveTo>
                <a:cubicBezTo>
                  <a:pt x="336" y="43"/>
                  <a:pt x="315" y="22"/>
                  <a:pt x="290" y="22"/>
                </a:cubicBezTo>
                <a:cubicBezTo>
                  <a:pt x="282" y="22"/>
                  <a:pt x="275" y="24"/>
                  <a:pt x="268" y="28"/>
                </a:cubicBezTo>
                <a:cubicBezTo>
                  <a:pt x="263" y="15"/>
                  <a:pt x="250" y="6"/>
                  <a:pt x="235" y="6"/>
                </a:cubicBezTo>
                <a:cubicBezTo>
                  <a:pt x="223" y="6"/>
                  <a:pt x="213" y="12"/>
                  <a:pt x="206" y="21"/>
                </a:cubicBezTo>
                <a:cubicBezTo>
                  <a:pt x="192" y="8"/>
                  <a:pt x="172" y="0"/>
                  <a:pt x="151" y="0"/>
                </a:cubicBezTo>
                <a:cubicBezTo>
                  <a:pt x="114" y="0"/>
                  <a:pt x="82" y="25"/>
                  <a:pt x="74" y="60"/>
                </a:cubicBezTo>
                <a:cubicBezTo>
                  <a:pt x="66" y="52"/>
                  <a:pt x="55" y="47"/>
                  <a:pt x="43" y="47"/>
                </a:cubicBezTo>
                <a:cubicBezTo>
                  <a:pt x="19" y="47"/>
                  <a:pt x="0" y="67"/>
                  <a:pt x="0" y="90"/>
                </a:cubicBezTo>
                <a:cubicBezTo>
                  <a:pt x="0" y="114"/>
                  <a:pt x="19" y="133"/>
                  <a:pt x="43" y="133"/>
                </a:cubicBezTo>
                <a:cubicBezTo>
                  <a:pt x="58" y="133"/>
                  <a:pt x="71" y="126"/>
                  <a:pt x="79" y="114"/>
                </a:cubicBezTo>
                <a:cubicBezTo>
                  <a:pt x="90" y="137"/>
                  <a:pt x="112" y="154"/>
                  <a:pt x="138" y="158"/>
                </a:cubicBezTo>
                <a:cubicBezTo>
                  <a:pt x="146" y="173"/>
                  <a:pt x="161" y="183"/>
                  <a:pt x="179" y="183"/>
                </a:cubicBezTo>
                <a:cubicBezTo>
                  <a:pt x="203" y="183"/>
                  <a:pt x="222" y="167"/>
                  <a:pt x="227" y="145"/>
                </a:cubicBezTo>
                <a:cubicBezTo>
                  <a:pt x="234" y="148"/>
                  <a:pt x="241" y="151"/>
                  <a:pt x="250" y="151"/>
                </a:cubicBezTo>
                <a:cubicBezTo>
                  <a:pt x="273" y="151"/>
                  <a:pt x="292" y="135"/>
                  <a:pt x="297" y="114"/>
                </a:cubicBezTo>
                <a:cubicBezTo>
                  <a:pt x="319" y="110"/>
                  <a:pt x="336" y="91"/>
                  <a:pt x="336" y="68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970640" y="3384720"/>
            <a:ext cx="261360" cy="186480"/>
          </a:xfrm>
          <a:custGeom>
            <a:avLst/>
            <a:gdLst/>
            <a:ahLst/>
            <a:rect l="0" t="0" r="r" b="b"/>
            <a:pathLst>
              <a:path w="726" h="518">
                <a:moveTo>
                  <a:pt x="726" y="147"/>
                </a:moveTo>
                <a:cubicBezTo>
                  <a:pt x="726" y="65"/>
                  <a:pt x="659" y="0"/>
                  <a:pt x="578" y="0"/>
                </a:cubicBezTo>
                <a:cubicBezTo>
                  <a:pt x="557" y="0"/>
                  <a:pt x="519" y="12"/>
                  <a:pt x="519" y="12"/>
                </a:cubicBezTo>
                <a:lnTo>
                  <a:pt x="240" y="42"/>
                </a:lnTo>
                <a:cubicBezTo>
                  <a:pt x="240" y="42"/>
                  <a:pt x="182" y="8"/>
                  <a:pt x="146" y="8"/>
                </a:cubicBezTo>
                <a:cubicBezTo>
                  <a:pt x="65" y="8"/>
                  <a:pt x="0" y="74"/>
                  <a:pt x="0" y="155"/>
                </a:cubicBezTo>
                <a:cubicBezTo>
                  <a:pt x="0" y="160"/>
                  <a:pt x="0" y="165"/>
                  <a:pt x="1" y="170"/>
                </a:cubicBezTo>
                <a:cubicBezTo>
                  <a:pt x="9" y="363"/>
                  <a:pt x="167" y="518"/>
                  <a:pt x="362" y="518"/>
                </a:cubicBezTo>
                <a:cubicBezTo>
                  <a:pt x="562" y="518"/>
                  <a:pt x="726" y="356"/>
                  <a:pt x="726" y="155"/>
                </a:cubicBezTo>
                <a:cubicBezTo>
                  <a:pt x="726" y="154"/>
                  <a:pt x="725" y="153"/>
                  <a:pt x="725" y="152"/>
                </a:cubicBezTo>
                <a:cubicBezTo>
                  <a:pt x="725" y="151"/>
                  <a:pt x="726" y="149"/>
                  <a:pt x="726" y="147"/>
                </a:cubicBezTo>
                <a:close/>
              </a:path>
            </a:pathLst>
          </a:custGeom>
          <a:solidFill>
            <a:srgbClr val="ffcb4c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2009160" y="3392640"/>
            <a:ext cx="189360" cy="26280"/>
          </a:xfrm>
          <a:custGeom>
            <a:avLst/>
            <a:gdLst/>
            <a:ahLst/>
            <a:rect l="0" t="0" r="r" b="b"/>
            <a:pathLst>
              <a:path w="526" h="73">
                <a:moveTo>
                  <a:pt x="515" y="21"/>
                </a:moveTo>
                <a:cubicBezTo>
                  <a:pt x="495" y="15"/>
                  <a:pt x="493" y="29"/>
                  <a:pt x="468" y="26"/>
                </a:cubicBezTo>
                <a:cubicBezTo>
                  <a:pt x="442" y="23"/>
                  <a:pt x="477" y="10"/>
                  <a:pt x="464" y="3"/>
                </a:cubicBezTo>
                <a:cubicBezTo>
                  <a:pt x="459" y="0"/>
                  <a:pt x="453" y="-1"/>
                  <a:pt x="444" y="0"/>
                </a:cubicBezTo>
                <a:cubicBezTo>
                  <a:pt x="421" y="3"/>
                  <a:pt x="82" y="12"/>
                  <a:pt x="70" y="18"/>
                </a:cubicBezTo>
                <a:cubicBezTo>
                  <a:pt x="59" y="23"/>
                  <a:pt x="52" y="30"/>
                  <a:pt x="42" y="20"/>
                </a:cubicBezTo>
                <a:cubicBezTo>
                  <a:pt x="29" y="8"/>
                  <a:pt x="10" y="15"/>
                  <a:pt x="5" y="19"/>
                </a:cubicBezTo>
                <a:cubicBezTo>
                  <a:pt x="-2" y="24"/>
                  <a:pt x="-3" y="34"/>
                  <a:pt x="10" y="47"/>
                </a:cubicBezTo>
                <a:cubicBezTo>
                  <a:pt x="23" y="56"/>
                  <a:pt x="46" y="66"/>
                  <a:pt x="84" y="72"/>
                </a:cubicBezTo>
                <a:cubicBezTo>
                  <a:pt x="88" y="73"/>
                  <a:pt x="92" y="73"/>
                  <a:pt x="95" y="73"/>
                </a:cubicBezTo>
                <a:cubicBezTo>
                  <a:pt x="121" y="74"/>
                  <a:pt x="125" y="37"/>
                  <a:pt x="162" y="36"/>
                </a:cubicBezTo>
                <a:cubicBezTo>
                  <a:pt x="186" y="35"/>
                  <a:pt x="399" y="59"/>
                  <a:pt x="417" y="57"/>
                </a:cubicBezTo>
                <a:cubicBezTo>
                  <a:pt x="419" y="57"/>
                  <a:pt x="422" y="57"/>
                  <a:pt x="424" y="57"/>
                </a:cubicBezTo>
                <a:cubicBezTo>
                  <a:pt x="458" y="57"/>
                  <a:pt x="466" y="87"/>
                  <a:pt x="502" y="63"/>
                </a:cubicBezTo>
                <a:cubicBezTo>
                  <a:pt x="517" y="51"/>
                  <a:pt x="540" y="27"/>
                  <a:pt x="515" y="21"/>
                </a:cubicBezTo>
                <a:close/>
              </a:path>
            </a:pathLst>
          </a:custGeom>
          <a:solidFill>
            <a:srgbClr val="f1902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2008440" y="3364560"/>
            <a:ext cx="182520" cy="60120"/>
          </a:xfrm>
          <a:custGeom>
            <a:avLst/>
            <a:gdLst/>
            <a:ahLst/>
            <a:rect l="0" t="0" r="r" b="b"/>
            <a:pathLst>
              <a:path w="507" h="167">
                <a:moveTo>
                  <a:pt x="0" y="0"/>
                </a:moveTo>
                <a:cubicBezTo>
                  <a:pt x="33" y="32"/>
                  <a:pt x="56" y="68"/>
                  <a:pt x="72" y="97"/>
                </a:cubicBezTo>
                <a:cubicBezTo>
                  <a:pt x="84" y="119"/>
                  <a:pt x="92" y="138"/>
                  <a:pt x="97" y="151"/>
                </a:cubicBezTo>
                <a:cubicBezTo>
                  <a:pt x="123" y="152"/>
                  <a:pt x="127" y="137"/>
                  <a:pt x="164" y="136"/>
                </a:cubicBezTo>
                <a:cubicBezTo>
                  <a:pt x="188" y="135"/>
                  <a:pt x="202" y="152"/>
                  <a:pt x="220" y="162"/>
                </a:cubicBezTo>
                <a:cubicBezTo>
                  <a:pt x="253" y="180"/>
                  <a:pt x="275" y="147"/>
                  <a:pt x="300" y="147"/>
                </a:cubicBezTo>
                <a:cubicBezTo>
                  <a:pt x="318" y="147"/>
                  <a:pt x="347" y="172"/>
                  <a:pt x="368" y="163"/>
                </a:cubicBezTo>
                <a:cubicBezTo>
                  <a:pt x="397" y="149"/>
                  <a:pt x="402" y="137"/>
                  <a:pt x="420" y="135"/>
                </a:cubicBezTo>
                <a:cubicBezTo>
                  <a:pt x="427" y="118"/>
                  <a:pt x="436" y="99"/>
                  <a:pt x="447" y="79"/>
                </a:cubicBezTo>
                <a:cubicBezTo>
                  <a:pt x="463" y="51"/>
                  <a:pt x="483" y="22"/>
                  <a:pt x="507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36c24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2016360" y="3363120"/>
            <a:ext cx="172080" cy="41760"/>
          </a:xfrm>
          <a:custGeom>
            <a:avLst/>
            <a:gdLst/>
            <a:ahLst/>
            <a:rect l="0" t="0" r="r" b="b"/>
            <a:pathLst>
              <a:path w="478" h="116">
                <a:moveTo>
                  <a:pt x="477" y="11"/>
                </a:moveTo>
                <a:cubicBezTo>
                  <a:pt x="504" y="-16"/>
                  <a:pt x="-15" y="11"/>
                  <a:pt x="0" y="27"/>
                </a:cubicBezTo>
                <a:cubicBezTo>
                  <a:pt x="21" y="51"/>
                  <a:pt x="47" y="96"/>
                  <a:pt x="47" y="96"/>
                </a:cubicBezTo>
                <a:cubicBezTo>
                  <a:pt x="47" y="96"/>
                  <a:pt x="148" y="147"/>
                  <a:pt x="225" y="82"/>
                </a:cubicBezTo>
                <a:cubicBezTo>
                  <a:pt x="278" y="114"/>
                  <a:pt x="353" y="103"/>
                  <a:pt x="387" y="47"/>
                </a:cubicBezTo>
                <a:cubicBezTo>
                  <a:pt x="387" y="47"/>
                  <a:pt x="413" y="57"/>
                  <a:pt x="439" y="58"/>
                </a:cubicBezTo>
                <a:cubicBezTo>
                  <a:pt x="439" y="58"/>
                  <a:pt x="460" y="28"/>
                  <a:pt x="477" y="11"/>
                </a:cubicBezTo>
                <a:close/>
              </a:path>
            </a:pathLst>
          </a:custGeom>
          <a:solidFill>
            <a:srgbClr val="ce5c1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2067840" y="3476160"/>
            <a:ext cx="66600" cy="76320"/>
          </a:xfrm>
          <a:custGeom>
            <a:avLst/>
            <a:gdLst/>
            <a:ahLst/>
            <a:rect l="0" t="0" r="r" b="b"/>
            <a:pathLst>
              <a:path w="185" h="212">
                <a:moveTo>
                  <a:pt x="93" y="212"/>
                </a:moveTo>
                <a:cubicBezTo>
                  <a:pt x="41" y="212"/>
                  <a:pt x="0" y="165"/>
                  <a:pt x="0" y="106"/>
                </a:cubicBezTo>
                <a:cubicBezTo>
                  <a:pt x="0" y="48"/>
                  <a:pt x="41" y="0"/>
                  <a:pt x="93" y="0"/>
                </a:cubicBezTo>
                <a:cubicBezTo>
                  <a:pt x="144" y="0"/>
                  <a:pt x="185" y="48"/>
                  <a:pt x="185" y="106"/>
                </a:cubicBezTo>
                <a:cubicBezTo>
                  <a:pt x="185" y="165"/>
                  <a:pt x="144" y="212"/>
                  <a:pt x="93" y="212"/>
                </a:cubicBezTo>
                <a:close/>
              </a:path>
            </a:pathLst>
          </a:custGeom>
          <a:solidFill>
            <a:srgbClr val="6547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2039760" y="3432240"/>
            <a:ext cx="123120" cy="41040"/>
          </a:xfrm>
          <a:custGeom>
            <a:avLst/>
            <a:gdLst/>
            <a:ahLst/>
            <a:rect l="0" t="0" r="r" b="b"/>
            <a:pathLst>
              <a:path w="342" h="114">
                <a:moveTo>
                  <a:pt x="85" y="58"/>
                </a:moveTo>
                <a:cubicBezTo>
                  <a:pt x="85" y="89"/>
                  <a:pt x="66" y="114"/>
                  <a:pt x="42" y="114"/>
                </a:cubicBezTo>
                <a:cubicBezTo>
                  <a:pt x="19" y="114"/>
                  <a:pt x="0" y="89"/>
                  <a:pt x="0" y="58"/>
                </a:cubicBezTo>
                <a:cubicBezTo>
                  <a:pt x="0" y="26"/>
                  <a:pt x="19" y="0"/>
                  <a:pt x="42" y="0"/>
                </a:cubicBezTo>
                <a:cubicBezTo>
                  <a:pt x="66" y="0"/>
                  <a:pt x="85" y="26"/>
                  <a:pt x="85" y="58"/>
                </a:cubicBezTo>
                <a:moveTo>
                  <a:pt x="342" y="58"/>
                </a:moveTo>
                <a:cubicBezTo>
                  <a:pt x="342" y="89"/>
                  <a:pt x="323" y="114"/>
                  <a:pt x="298" y="114"/>
                </a:cubicBezTo>
                <a:cubicBezTo>
                  <a:pt x="274" y="114"/>
                  <a:pt x="255" y="89"/>
                  <a:pt x="255" y="58"/>
                </a:cubicBezTo>
                <a:cubicBezTo>
                  <a:pt x="255" y="26"/>
                  <a:pt x="274" y="0"/>
                  <a:pt x="298" y="0"/>
                </a:cubicBezTo>
                <a:cubicBezTo>
                  <a:pt x="323" y="0"/>
                  <a:pt x="342" y="26"/>
                  <a:pt x="342" y="58"/>
                </a:cubicBezTo>
                <a:close/>
              </a:path>
            </a:pathLst>
          </a:custGeom>
          <a:solidFill>
            <a:srgbClr val="65471b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981800" y="3295800"/>
            <a:ext cx="239040" cy="97200"/>
          </a:xfrm>
          <a:custGeom>
            <a:avLst/>
            <a:gdLst/>
            <a:ahLst/>
            <a:rect l="0" t="0" r="r" b="b"/>
            <a:pathLst>
              <a:path w="664" h="270">
                <a:moveTo>
                  <a:pt x="612" y="76"/>
                </a:moveTo>
                <a:cubicBezTo>
                  <a:pt x="607" y="76"/>
                  <a:pt x="602" y="77"/>
                  <a:pt x="597" y="78"/>
                </a:cubicBezTo>
                <a:cubicBezTo>
                  <a:pt x="583" y="60"/>
                  <a:pt x="561" y="48"/>
                  <a:pt x="536" y="48"/>
                </a:cubicBezTo>
                <a:cubicBezTo>
                  <a:pt x="534" y="48"/>
                  <a:pt x="532" y="49"/>
                  <a:pt x="530" y="49"/>
                </a:cubicBezTo>
                <a:cubicBezTo>
                  <a:pt x="514" y="31"/>
                  <a:pt x="492" y="20"/>
                  <a:pt x="466" y="20"/>
                </a:cubicBezTo>
                <a:cubicBezTo>
                  <a:pt x="434" y="20"/>
                  <a:pt x="407" y="38"/>
                  <a:pt x="392" y="64"/>
                </a:cubicBezTo>
                <a:cubicBezTo>
                  <a:pt x="385" y="47"/>
                  <a:pt x="368" y="35"/>
                  <a:pt x="348" y="35"/>
                </a:cubicBezTo>
                <a:cubicBezTo>
                  <a:pt x="333" y="35"/>
                  <a:pt x="319" y="42"/>
                  <a:pt x="311" y="54"/>
                </a:cubicBezTo>
                <a:cubicBezTo>
                  <a:pt x="300" y="22"/>
                  <a:pt x="270" y="0"/>
                  <a:pt x="235" y="0"/>
                </a:cubicBezTo>
                <a:cubicBezTo>
                  <a:pt x="207" y="0"/>
                  <a:pt x="183" y="14"/>
                  <a:pt x="168" y="36"/>
                </a:cubicBezTo>
                <a:cubicBezTo>
                  <a:pt x="164" y="36"/>
                  <a:pt x="160" y="35"/>
                  <a:pt x="156" y="35"/>
                </a:cubicBezTo>
                <a:cubicBezTo>
                  <a:pt x="125" y="35"/>
                  <a:pt x="99" y="52"/>
                  <a:pt x="85" y="78"/>
                </a:cubicBezTo>
                <a:cubicBezTo>
                  <a:pt x="81" y="77"/>
                  <a:pt x="76" y="76"/>
                  <a:pt x="72" y="76"/>
                </a:cubicBezTo>
                <a:cubicBezTo>
                  <a:pt x="32" y="76"/>
                  <a:pt x="0" y="108"/>
                  <a:pt x="0" y="149"/>
                </a:cubicBezTo>
                <a:cubicBezTo>
                  <a:pt x="0" y="189"/>
                  <a:pt x="32" y="221"/>
                  <a:pt x="72" y="221"/>
                </a:cubicBezTo>
                <a:cubicBezTo>
                  <a:pt x="84" y="221"/>
                  <a:pt x="96" y="218"/>
                  <a:pt x="106" y="212"/>
                </a:cubicBezTo>
                <a:cubicBezTo>
                  <a:pt x="114" y="218"/>
                  <a:pt x="124" y="222"/>
                  <a:pt x="136" y="222"/>
                </a:cubicBezTo>
                <a:cubicBezTo>
                  <a:pt x="139" y="222"/>
                  <a:pt x="142" y="221"/>
                  <a:pt x="145" y="221"/>
                </a:cubicBezTo>
                <a:cubicBezTo>
                  <a:pt x="163" y="250"/>
                  <a:pt x="195" y="270"/>
                  <a:pt x="233" y="270"/>
                </a:cubicBezTo>
                <a:cubicBezTo>
                  <a:pt x="269" y="270"/>
                  <a:pt x="301" y="251"/>
                  <a:pt x="319" y="223"/>
                </a:cubicBezTo>
                <a:cubicBezTo>
                  <a:pt x="335" y="241"/>
                  <a:pt x="358" y="254"/>
                  <a:pt x="384" y="254"/>
                </a:cubicBezTo>
                <a:cubicBezTo>
                  <a:pt x="423" y="254"/>
                  <a:pt x="455" y="227"/>
                  <a:pt x="464" y="192"/>
                </a:cubicBezTo>
                <a:cubicBezTo>
                  <a:pt x="465" y="192"/>
                  <a:pt x="466" y="192"/>
                  <a:pt x="467" y="192"/>
                </a:cubicBezTo>
                <a:cubicBezTo>
                  <a:pt x="472" y="192"/>
                  <a:pt x="478" y="191"/>
                  <a:pt x="484" y="190"/>
                </a:cubicBezTo>
                <a:cubicBezTo>
                  <a:pt x="498" y="202"/>
                  <a:pt x="516" y="209"/>
                  <a:pt x="536" y="209"/>
                </a:cubicBezTo>
                <a:cubicBezTo>
                  <a:pt x="561" y="209"/>
                  <a:pt x="583" y="198"/>
                  <a:pt x="597" y="180"/>
                </a:cubicBezTo>
                <a:cubicBezTo>
                  <a:pt x="602" y="181"/>
                  <a:pt x="607" y="182"/>
                  <a:pt x="612" y="182"/>
                </a:cubicBezTo>
                <a:cubicBezTo>
                  <a:pt x="641" y="182"/>
                  <a:pt x="664" y="158"/>
                  <a:pt x="664" y="129"/>
                </a:cubicBezTo>
                <a:cubicBezTo>
                  <a:pt x="664" y="99"/>
                  <a:pt x="641" y="76"/>
                  <a:pt x="612" y="76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2160000" y="3322440"/>
            <a:ext cx="32760" cy="33120"/>
          </a:xfrm>
          <a:custGeom>
            <a:avLst/>
            <a:gdLst/>
            <a:ahLst/>
            <a:rect l="0" t="0" r="r" b="b"/>
            <a:pathLst>
              <a:path w="91" h="92">
                <a:moveTo>
                  <a:pt x="91" y="45"/>
                </a:moveTo>
                <a:cubicBezTo>
                  <a:pt x="91" y="70"/>
                  <a:pt x="70" y="92"/>
                  <a:pt x="45" y="92"/>
                </a:cubicBezTo>
                <a:cubicBezTo>
                  <a:pt x="20" y="92"/>
                  <a:pt x="0" y="70"/>
                  <a:pt x="0" y="45"/>
                </a:cubicBezTo>
                <a:cubicBezTo>
                  <a:pt x="0" y="20"/>
                  <a:pt x="20" y="0"/>
                  <a:pt x="45" y="0"/>
                </a:cubicBezTo>
                <a:cubicBezTo>
                  <a:pt x="70" y="0"/>
                  <a:pt x="91" y="20"/>
                  <a:pt x="91" y="45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995120" y="3315240"/>
            <a:ext cx="120600" cy="65880"/>
          </a:xfrm>
          <a:custGeom>
            <a:avLst/>
            <a:gdLst/>
            <a:ahLst/>
            <a:rect l="0" t="0" r="r" b="b"/>
            <a:pathLst>
              <a:path w="335" h="183">
                <a:moveTo>
                  <a:pt x="335" y="68"/>
                </a:moveTo>
                <a:cubicBezTo>
                  <a:pt x="335" y="43"/>
                  <a:pt x="315" y="22"/>
                  <a:pt x="288" y="22"/>
                </a:cubicBezTo>
                <a:cubicBezTo>
                  <a:pt x="280" y="22"/>
                  <a:pt x="273" y="24"/>
                  <a:pt x="267" y="28"/>
                </a:cubicBezTo>
                <a:cubicBezTo>
                  <a:pt x="261" y="15"/>
                  <a:pt x="249" y="6"/>
                  <a:pt x="234" y="6"/>
                </a:cubicBezTo>
                <a:cubicBezTo>
                  <a:pt x="222" y="6"/>
                  <a:pt x="211" y="12"/>
                  <a:pt x="205" y="21"/>
                </a:cubicBezTo>
                <a:cubicBezTo>
                  <a:pt x="190" y="8"/>
                  <a:pt x="171" y="0"/>
                  <a:pt x="150" y="0"/>
                </a:cubicBezTo>
                <a:cubicBezTo>
                  <a:pt x="113" y="0"/>
                  <a:pt x="82" y="25"/>
                  <a:pt x="73" y="60"/>
                </a:cubicBezTo>
                <a:cubicBezTo>
                  <a:pt x="65" y="52"/>
                  <a:pt x="55" y="47"/>
                  <a:pt x="43" y="47"/>
                </a:cubicBezTo>
                <a:cubicBezTo>
                  <a:pt x="19" y="47"/>
                  <a:pt x="0" y="67"/>
                  <a:pt x="0" y="90"/>
                </a:cubicBezTo>
                <a:cubicBezTo>
                  <a:pt x="0" y="114"/>
                  <a:pt x="19" y="133"/>
                  <a:pt x="43" y="133"/>
                </a:cubicBezTo>
                <a:cubicBezTo>
                  <a:pt x="58" y="133"/>
                  <a:pt x="71" y="126"/>
                  <a:pt x="78" y="114"/>
                </a:cubicBezTo>
                <a:cubicBezTo>
                  <a:pt x="89" y="137"/>
                  <a:pt x="111" y="154"/>
                  <a:pt x="137" y="158"/>
                </a:cubicBezTo>
                <a:cubicBezTo>
                  <a:pt x="145" y="173"/>
                  <a:pt x="161" y="183"/>
                  <a:pt x="178" y="183"/>
                </a:cubicBezTo>
                <a:cubicBezTo>
                  <a:pt x="201" y="183"/>
                  <a:pt x="220" y="167"/>
                  <a:pt x="225" y="145"/>
                </a:cubicBezTo>
                <a:cubicBezTo>
                  <a:pt x="232" y="148"/>
                  <a:pt x="240" y="151"/>
                  <a:pt x="248" y="151"/>
                </a:cubicBezTo>
                <a:cubicBezTo>
                  <a:pt x="271" y="151"/>
                  <a:pt x="290" y="135"/>
                  <a:pt x="295" y="114"/>
                </a:cubicBezTo>
                <a:cubicBezTo>
                  <a:pt x="318" y="110"/>
                  <a:pt x="335" y="91"/>
                  <a:pt x="335" y="68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015560" y="3245400"/>
            <a:ext cx="284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3.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253240" y="3245400"/>
            <a:ext cx="226620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They're the same?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015560" y="3728520"/>
            <a:ext cx="2190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4. Math is broken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207960" y="3734280"/>
            <a:ext cx="276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1f2328"/>
                </a:solidFill>
                <a:effectLst/>
                <a:uFillTx/>
                <a:latin typeface="MicrosoftYaHei"/>
                <a:ea typeface="MicrosoftYaHei"/>
              </a:rPr>
              <a:t>ヽ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3484440" y="3728520"/>
            <a:ext cx="1068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(º ■ º l|l)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4553640" y="3734280"/>
            <a:ext cx="275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1f2328"/>
                </a:solidFill>
                <a:effectLst/>
                <a:uFillTx/>
                <a:latin typeface="MicrosoftYaHei"/>
                <a:ea typeface="MicrosoftYaHei"/>
              </a:rPr>
              <a:t>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1015560" y="4212000"/>
            <a:ext cx="19195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5. Math is fixed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2936880" y="4217760"/>
            <a:ext cx="276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1f2328"/>
                </a:solidFill>
                <a:effectLst/>
                <a:uFillTx/>
                <a:latin typeface="MicrosoftYaHei"/>
                <a:ea typeface="MicrosoftYaHei"/>
              </a:rPr>
              <a:t>ヽ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3213360" y="42120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(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3296520" y="4217760"/>
            <a:ext cx="276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1f2328"/>
                </a:solidFill>
                <a:effectLst/>
                <a:uFillTx/>
                <a:latin typeface="MicrosoftYaHei"/>
                <a:ea typeface="MicrosoftYaHei"/>
              </a:rPr>
              <a:t>・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572640" y="4267080"/>
            <a:ext cx="276480" cy="303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YuGothic"/>
                <a:ea typeface="YuGothic"/>
              </a:rPr>
              <a:t>∀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3849120" y="4217760"/>
            <a:ext cx="27648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1f2328"/>
                </a:solidFill>
                <a:effectLst/>
                <a:uFillTx/>
                <a:latin typeface="MicrosoftYaHei"/>
                <a:ea typeface="MicrosoftYaHei"/>
              </a:rPr>
              <a:t>・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4125240" y="4212000"/>
            <a:ext cx="27576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)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208760" y="4217760"/>
            <a:ext cx="275760" cy="3646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2170" strike="noStrike" u="none">
                <a:solidFill>
                  <a:srgbClr val="1f2328"/>
                </a:solidFill>
                <a:effectLst/>
                <a:uFillTx/>
                <a:latin typeface="MicrosoftYaHei"/>
                <a:ea typeface="MicrosoftYaHei"/>
              </a:rPr>
              <a:t>ﾉ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285840" y="213480"/>
            <a:ext cx="13312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Table of Contents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2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285840" y="213480"/>
            <a:ext cx="12819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Russell's Paradox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3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747720" y="3038040"/>
            <a:ext cx="105008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The inifinite loop is a common bug. Can I write a program to detect if a given program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747720" y="3452400"/>
            <a:ext cx="6175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and input will continue to run forever or not (halt)?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285840" y="213480"/>
            <a:ext cx="1548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The Halting Problem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4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285840" y="213480"/>
            <a:ext cx="305964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Russell's Paradox &amp; The Halting Problem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5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285840" y="213480"/>
            <a:ext cx="11797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Math is broken 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1469880" y="217080"/>
            <a:ext cx="171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666666"/>
                </a:solidFill>
                <a:effectLst/>
                <a:uFillTx/>
                <a:latin typeface="MicrosoftYaHei"/>
                <a:ea typeface="MicrosoftYaHei"/>
              </a:rPr>
              <a:t>ヽ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641600" y="213480"/>
            <a:ext cx="66168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(º ■ º l|l)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2305440" y="217080"/>
            <a:ext cx="171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666666"/>
                </a:solidFill>
                <a:effectLst/>
                <a:uFillTx/>
                <a:latin typeface="MicrosoftYaHei"/>
                <a:ea typeface="MicrosoftYaHei"/>
              </a:rPr>
              <a:t>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6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285840" y="213480"/>
            <a:ext cx="101232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Math is fixed 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1301760" y="217080"/>
            <a:ext cx="171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666666"/>
                </a:solidFill>
                <a:effectLst/>
                <a:uFillTx/>
                <a:latin typeface="MicrosoftYaHei"/>
                <a:ea typeface="MicrosoftYaHei"/>
              </a:rPr>
              <a:t>ヽ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473480" y="213480"/>
            <a:ext cx="171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(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 txBox="1"/>
          <p:nvPr/>
        </p:nvSpPr>
        <p:spPr>
          <a:xfrm>
            <a:off x="1524960" y="217080"/>
            <a:ext cx="171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666666"/>
                </a:solidFill>
                <a:effectLst/>
                <a:uFillTx/>
                <a:latin typeface="MicrosoftYaHei"/>
                <a:ea typeface="MicrosoftYaHei"/>
              </a:rPr>
              <a:t>・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696680" y="247680"/>
            <a:ext cx="171360" cy="1893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YuGothic"/>
                <a:ea typeface="YuGothic"/>
              </a:rPr>
              <a:t>∀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 txBox="1"/>
          <p:nvPr/>
        </p:nvSpPr>
        <p:spPr>
          <a:xfrm>
            <a:off x="1868040" y="217080"/>
            <a:ext cx="17136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666666"/>
                </a:solidFill>
                <a:effectLst/>
                <a:uFillTx/>
                <a:latin typeface="MicrosoftYaHei"/>
                <a:ea typeface="MicrosoftYaHei"/>
              </a:rPr>
              <a:t>・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2039400" y="213480"/>
            <a:ext cx="1710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)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 txBox="1"/>
          <p:nvPr/>
        </p:nvSpPr>
        <p:spPr>
          <a:xfrm>
            <a:off x="2091240" y="217080"/>
            <a:ext cx="171000" cy="226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zh-CN" sz="1350" strike="noStrike" u="none">
                <a:solidFill>
                  <a:srgbClr val="666666"/>
                </a:solidFill>
                <a:effectLst/>
                <a:uFillTx/>
                <a:latin typeface="MicrosoftYaHei"/>
                <a:ea typeface="MicrosoftYaHei"/>
              </a:rPr>
              <a:t>ﾉ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7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747360" y="4209840"/>
            <a:ext cx="64080" cy="414720"/>
          </a:xfrm>
          <a:custGeom>
            <a:avLst/>
            <a:gdLst/>
            <a:ahLst/>
            <a:rect l="0" t="0" r="r" b="b"/>
            <a:pathLst>
              <a:path w="178" h="1152">
                <a:moveTo>
                  <a:pt x="0" y="0"/>
                </a:moveTo>
                <a:lnTo>
                  <a:pt x="178" y="0"/>
                </a:lnTo>
                <a:lnTo>
                  <a:pt x="178" y="1152"/>
                </a:lnTo>
                <a:lnTo>
                  <a:pt x="0" y="1152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1034640" y="2298600"/>
            <a:ext cx="275760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Mozilla_Bullet"/>
                <a:ea typeface="Mozilla_Bullet"/>
              </a:rPr>
              <a:t>•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 txBox="1"/>
          <p:nvPr/>
        </p:nvSpPr>
        <p:spPr>
          <a:xfrm>
            <a:off x="1300320" y="2257200"/>
            <a:ext cx="5100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Marp uses </a:t>
            </a:r>
            <a:r>
              <a:rPr b="1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Markdown 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that has </a:t>
            </a:r>
            <a:r>
              <a:rPr b="1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bold text</a:t>
            </a:r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.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 txBox="1"/>
          <p:nvPr/>
        </p:nvSpPr>
        <p:spPr>
          <a:xfrm>
            <a:off x="1034640" y="2791800"/>
            <a:ext cx="275760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Mozilla_Bullet"/>
                <a:ea typeface="Mozilla_Bullet"/>
              </a:rPr>
              <a:t>•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4545720" y="2784960"/>
            <a:ext cx="575280" cy="367200"/>
          </a:xfrm>
          <a:custGeom>
            <a:avLst/>
            <a:gdLst/>
            <a:ahLst/>
            <a:rect l="0" t="0" r="r" b="b"/>
            <a:pathLst>
              <a:path w="1598" h="1020">
                <a:moveTo>
                  <a:pt x="159" y="0"/>
                </a:moveTo>
                <a:lnTo>
                  <a:pt x="1440" y="0"/>
                </a:lnTo>
                <a:cubicBezTo>
                  <a:pt x="1527" y="0"/>
                  <a:pt x="1598" y="71"/>
                  <a:pt x="1598" y="159"/>
                </a:cubicBezTo>
                <a:lnTo>
                  <a:pt x="1598" y="861"/>
                </a:lnTo>
                <a:cubicBezTo>
                  <a:pt x="1598" y="949"/>
                  <a:pt x="1527" y="1020"/>
                  <a:pt x="1440" y="1020"/>
                </a:cubicBezTo>
                <a:lnTo>
                  <a:pt x="159" y="1020"/>
                </a:lnTo>
                <a:cubicBezTo>
                  <a:pt x="71" y="1020"/>
                  <a:pt x="0" y="949"/>
                  <a:pt x="0" y="861"/>
                </a:cubicBezTo>
                <a:lnTo>
                  <a:pt x="0" y="159"/>
                </a:lnTo>
                <a:cubicBezTo>
                  <a:pt x="0" y="71"/>
                  <a:pt x="71" y="0"/>
                  <a:pt x="159" y="0"/>
                </a:cubicBezTo>
                <a:close/>
              </a:path>
            </a:pathLst>
          </a:custGeom>
          <a:solidFill>
            <a:srgbClr val="818b98">
              <a:alpha val="12000"/>
            </a:srgbClr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300320" y="2750040"/>
            <a:ext cx="32414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Markdown has the divider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 txBox="1"/>
          <p:nvPr/>
        </p:nvSpPr>
        <p:spPr>
          <a:xfrm>
            <a:off x="4639680" y="2873520"/>
            <a:ext cx="387720" cy="2350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50" strike="noStrike" u="none">
                <a:solidFill>
                  <a:srgbClr val="1f2328"/>
                </a:solidFill>
                <a:effectLst/>
                <a:uFillTx/>
                <a:latin typeface="Consolas"/>
                <a:ea typeface="Consolas"/>
              </a:rPr>
              <a:t>---</a:t>
            </a:r>
            <a:endParaRPr b="0" lang="en-US" sz="18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5121000" y="2750040"/>
            <a:ext cx="50860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 to separate the slides. Example footnote: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034640" y="3284640"/>
            <a:ext cx="275760" cy="3218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Mozilla_Bullet"/>
                <a:ea typeface="Mozilla_Bullet"/>
              </a:rPr>
              <a:t>• 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1300320" y="3242880"/>
            <a:ext cx="920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Use the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1300320" y="3666600"/>
            <a:ext cx="1316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for endline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1087560" y="4233600"/>
            <a:ext cx="53668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59636e"/>
                </a:solidFill>
                <a:effectLst/>
                <a:uFillTx/>
                <a:latin typeface="SegoeUI"/>
                <a:ea typeface="SegoeUI"/>
              </a:rPr>
              <a:t>1: This is an example footnote in Markdown.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10214280" y="2709720"/>
            <a:ext cx="23364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4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1</a:t>
            </a:r>
            <a:endParaRPr b="0" lang="en-US" sz="18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8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 txBox="1"/>
          <p:nvPr/>
        </p:nvSpPr>
        <p:spPr>
          <a:xfrm>
            <a:off x="4124880" y="2794680"/>
            <a:ext cx="33372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I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 txBox="1"/>
          <p:nvPr/>
        </p:nvSpPr>
        <p:spPr>
          <a:xfrm>
            <a:off x="4649400" y="2716200"/>
            <a:ext cx="3337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=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 txBox="1"/>
          <p:nvPr/>
        </p:nvSpPr>
        <p:spPr>
          <a:xfrm>
            <a:off x="4272120" y="2914200"/>
            <a:ext cx="233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4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xx</a:t>
            </a:r>
            <a:endParaRPr b="0" lang="en-US" sz="18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5829480" y="2794680"/>
            <a:ext cx="42804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 f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6338880" y="2716200"/>
            <a:ext cx="3337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6468840" y="2794680"/>
            <a:ext cx="33372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6660000" y="2716200"/>
            <a:ext cx="3337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,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6808320" y="2794680"/>
            <a:ext cx="33372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y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6984000" y="2716200"/>
            <a:ext cx="34308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) ⋅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 txBox="1"/>
          <p:nvPr/>
        </p:nvSpPr>
        <p:spPr>
          <a:xfrm>
            <a:off x="5002200" y="2715840"/>
            <a:ext cx="45468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∫ ∫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 txBox="1"/>
          <p:nvPr/>
        </p:nvSpPr>
        <p:spPr>
          <a:xfrm>
            <a:off x="5577840" y="3168720"/>
            <a:ext cx="23364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4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R</a:t>
            </a:r>
            <a:endParaRPr b="0" lang="en-US" sz="18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 txBox="1"/>
          <p:nvPr/>
        </p:nvSpPr>
        <p:spPr>
          <a:xfrm>
            <a:off x="6005520" y="2671200"/>
            <a:ext cx="23364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4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b="0" lang="en-US" sz="18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 txBox="1"/>
          <p:nvPr/>
        </p:nvSpPr>
        <p:spPr>
          <a:xfrm>
            <a:off x="7355520" y="2794680"/>
            <a:ext cx="67752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dydx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 txBox="1"/>
          <p:nvPr/>
        </p:nvSpPr>
        <p:spPr>
          <a:xfrm>
            <a:off x="4302360" y="3727440"/>
            <a:ext cx="33372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f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4502160" y="3648960"/>
            <a:ext cx="3337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 txBox="1"/>
          <p:nvPr/>
        </p:nvSpPr>
        <p:spPr>
          <a:xfrm>
            <a:off x="4632120" y="3727440"/>
            <a:ext cx="33372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x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 txBox="1"/>
          <p:nvPr/>
        </p:nvSpPr>
        <p:spPr>
          <a:xfrm>
            <a:off x="4823280" y="3648960"/>
            <a:ext cx="51660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) =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 txBox="1"/>
          <p:nvPr/>
        </p:nvSpPr>
        <p:spPr>
          <a:xfrm>
            <a:off x="6273000" y="3648960"/>
            <a:ext cx="3337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(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 txBox="1"/>
          <p:nvPr/>
        </p:nvSpPr>
        <p:spPr>
          <a:xfrm>
            <a:off x="6402960" y="3727440"/>
            <a:ext cx="33372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ξ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 txBox="1"/>
          <p:nvPr/>
        </p:nvSpPr>
        <p:spPr>
          <a:xfrm>
            <a:off x="6564600" y="3648960"/>
            <a:ext cx="3337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)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750720" y="3727440"/>
            <a:ext cx="33372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e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 txBox="1"/>
          <p:nvPr/>
        </p:nvSpPr>
        <p:spPr>
          <a:xfrm>
            <a:off x="7556760" y="3727440"/>
            <a:ext cx="34668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dξ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 txBox="1"/>
          <p:nvPr/>
        </p:nvSpPr>
        <p:spPr>
          <a:xfrm>
            <a:off x="5398920" y="3648600"/>
            <a:ext cx="3337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Size2"/>
                <a:ea typeface="KaTeX_Size2"/>
              </a:rPr>
              <a:t>∫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5584680" y="4046400"/>
            <a:ext cx="39024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4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−∞</a:t>
            </a:r>
            <a:endParaRPr b="0" lang="en-US" sz="18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 txBox="1"/>
          <p:nvPr/>
        </p:nvSpPr>
        <p:spPr>
          <a:xfrm>
            <a:off x="5733360" y="3369960"/>
            <a:ext cx="23364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4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∞</a:t>
            </a:r>
            <a:endParaRPr b="0" lang="en-US" sz="18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 txBox="1"/>
          <p:nvPr/>
        </p:nvSpPr>
        <p:spPr>
          <a:xfrm>
            <a:off x="6073200" y="3727440"/>
            <a:ext cx="333720" cy="3337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263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f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 txBox="1"/>
          <p:nvPr/>
        </p:nvSpPr>
        <p:spPr>
          <a:xfrm>
            <a:off x="6145200" y="3560760"/>
            <a:ext cx="333720" cy="38916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63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^</a:t>
            </a:r>
            <a:endParaRPr b="0" lang="en-US" sz="263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 txBox="1"/>
          <p:nvPr/>
        </p:nvSpPr>
        <p:spPr>
          <a:xfrm>
            <a:off x="6906240" y="3603960"/>
            <a:ext cx="233640" cy="27180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40" strike="noStrike" u="none">
                <a:solidFill>
                  <a:srgbClr val="1f2328"/>
                </a:solidFill>
                <a:effectLst/>
                <a:uFillTx/>
                <a:latin typeface="KaTeX_Main"/>
                <a:ea typeface="KaTeX_Main"/>
              </a:rPr>
              <a:t>2</a:t>
            </a:r>
            <a:endParaRPr b="0" lang="en-US" sz="18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 txBox="1"/>
          <p:nvPr/>
        </p:nvSpPr>
        <p:spPr>
          <a:xfrm>
            <a:off x="7023240" y="3658680"/>
            <a:ext cx="411480" cy="23364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i="1" lang="en-US" sz="1840" strike="noStrike" u="none">
                <a:solidFill>
                  <a:srgbClr val="1f2328"/>
                </a:solidFill>
                <a:effectLst/>
                <a:uFillTx/>
                <a:latin typeface="KaTeX_Math"/>
                <a:ea typeface="KaTeX_Math"/>
              </a:rPr>
              <a:t>πiξx</a:t>
            </a:r>
            <a:endParaRPr b="0" lang="en-US" sz="184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 txBox="1"/>
          <p:nvPr/>
        </p:nvSpPr>
        <p:spPr>
          <a:xfrm>
            <a:off x="285840" y="213480"/>
            <a:ext cx="83880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Block math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 txBox="1"/>
          <p:nvPr/>
        </p:nvSpPr>
        <p:spPr>
          <a:xfrm>
            <a:off x="11783160" y="6335280"/>
            <a:ext cx="228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9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0" y="0"/>
            <a:ext cx="12192120" cy="6858360"/>
          </a:xfrm>
          <a:custGeom>
            <a:avLst/>
            <a:gdLst/>
            <a:ahLst/>
            <a:rect l="0" t="0" r="r" b="b"/>
            <a:pathLst>
              <a:path w="33867" h="19051">
                <a:moveTo>
                  <a:pt x="0" y="0"/>
                </a:moveTo>
                <a:lnTo>
                  <a:pt x="33867" y="0"/>
                </a:lnTo>
                <a:lnTo>
                  <a:pt x="33867" y="19051"/>
                </a:lnTo>
                <a:lnTo>
                  <a:pt x="0" y="1905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015560" y="2678400"/>
            <a:ext cx="528228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1. Link images using </a:t>
            </a:r>
            <a:r>
              <a:rPr b="0" lang="en-US" sz="2170" strike="noStrike" u="none">
                <a:solidFill>
                  <a:srgbClr val="0969da"/>
                </a:solidFill>
                <a:effectLst/>
                <a:uFillTx/>
                <a:latin typeface="SegoeUI"/>
                <a:ea typeface="SegoeUI"/>
              </a:rPr>
              <a:t>Example image alt text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 txBox="1"/>
          <p:nvPr/>
        </p:nvSpPr>
        <p:spPr>
          <a:xfrm>
            <a:off x="747720" y="3245400"/>
            <a:ext cx="344124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You can also use a local link: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 txBox="1"/>
          <p:nvPr/>
        </p:nvSpPr>
        <p:spPr>
          <a:xfrm>
            <a:off x="747720" y="3812040"/>
            <a:ext cx="762120" cy="3664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2170" strike="noStrike" u="none">
                <a:solidFill>
                  <a:srgbClr val="1f2328"/>
                </a:solidFill>
                <a:effectLst/>
                <a:uFillTx/>
                <a:latin typeface="SegoeUI"/>
                <a:ea typeface="SegoeUI"/>
              </a:rPr>
              <a:t>center</a:t>
            </a:r>
            <a:endParaRPr b="0" lang="en-US" sz="217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 txBox="1"/>
          <p:nvPr/>
        </p:nvSpPr>
        <p:spPr>
          <a:xfrm>
            <a:off x="285840" y="213480"/>
            <a:ext cx="542160" cy="22752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350" strike="noStrike" u="none">
                <a:solidFill>
                  <a:srgbClr val="666666"/>
                </a:solidFill>
                <a:effectLst/>
                <a:uFillTx/>
                <a:latin typeface="SegoeUI"/>
                <a:ea typeface="SegoeUI"/>
              </a:rPr>
              <a:t>Images</a:t>
            </a:r>
            <a:endParaRPr b="0" lang="en-US" sz="135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 txBox="1"/>
          <p:nvPr/>
        </p:nvSpPr>
        <p:spPr>
          <a:xfrm>
            <a:off x="11660040" y="6335280"/>
            <a:ext cx="2473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rIns="0" tIns="0" bIns="0" anchor="t">
            <a:spAutoFit/>
          </a:bodyPr>
          <a:p>
            <a:r>
              <a:rPr b="0" lang="en-US" sz="1800" strike="noStrike" u="none">
                <a:solidFill>
                  <a:srgbClr val="777777"/>
                </a:solidFill>
                <a:effectLst/>
                <a:uFillTx/>
                <a:latin typeface="SegoeUI"/>
                <a:ea typeface="SegoeUI"/>
              </a:rPr>
              <a:t>10</a:t>
            </a:r>
            <a:endParaRPr b="0" lang="en-US" sz="18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LibreOffice/25.8.3.2$Windows_X86_64 LibreOffice_project/8ca8d55c161d602844f5428fa4b58097424e324e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